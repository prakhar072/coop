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1FB124-B5D9-4292-9718-523FF3FFA56B}">
  <a:tblStyle styleId="{F81FB124-B5D9-4292-9718-523FF3FFA5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Graph-Guided Prompt Learning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Structural Extensions to Context Optimization (CoOp)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Prakhar Mittal  ·  Divyansh Jha  ·  Ishan Raha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D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FA8D8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Science, BITS Pilani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4160520"/>
            <a:ext cx="2011680" cy="502920"/>
          </a:xfrm>
          <a:prstGeom prst="roundRect">
            <a:avLst>
              <a:gd fmla="val 14545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41605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CE+GLoss Hybrid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633472" y="4160520"/>
            <a:ext cx="2011680" cy="502920"/>
          </a:xfrm>
          <a:prstGeom prst="roundRect">
            <a:avLst>
              <a:gd fmla="val 14545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633472" y="41605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Laplacian Reg.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809744" y="4160520"/>
            <a:ext cx="2011680" cy="502920"/>
          </a:xfrm>
          <a:prstGeom prst="roundRect">
            <a:avLst>
              <a:gd fmla="val 14545" name="adj"/>
            </a:avLst>
          </a:prstGeom>
          <a:solidFill>
            <a:srgbClr val="2C4A9C"/>
          </a:solidFill>
          <a:ln cap="flat" cmpd="sng" w="12700">
            <a:solidFill>
              <a:srgbClr val="2C4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809744" y="41605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Label Smoothing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986016" y="4160520"/>
            <a:ext cx="2011680" cy="502920"/>
          </a:xfrm>
          <a:prstGeom prst="roundRect">
            <a:avLst>
              <a:gd fmla="val 1454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986016" y="41605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Context Diffusion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Method Overview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74320" y="1097280"/>
            <a:ext cx="1691640" cy="13716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274320" y="114300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Batch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74320" y="1572768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Frozen CLIP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Image Encoder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1965960" y="178308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2267712" y="16459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103120" y="1097280"/>
            <a:ext cx="1691640" cy="1371600"/>
          </a:xfrm>
          <a:prstGeom prst="rect">
            <a:avLst/>
          </a:prstGeom>
          <a:solidFill>
            <a:srgbClr val="2C4A9C"/>
          </a:solidFill>
          <a:ln cap="flat" cmpd="sng" w="12700">
            <a:solidFill>
              <a:srgbClr val="2C4A9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2103120" y="114300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Embeddings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103120" y="1572768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f_img  ∈  R^d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(normalized)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3794760" y="178308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4"/>
          <p:cNvSpPr/>
          <p:nvPr/>
        </p:nvSpPr>
        <p:spPr>
          <a:xfrm>
            <a:off x="4096512" y="16459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931920" y="1097280"/>
            <a:ext cx="1691640" cy="13716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931920" y="114300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Concat Node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931920" y="1572768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z_i = [f_img ; α·f_prompt]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(α = 1.0)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4"/>
          <p:cNvCxnSpPr/>
          <p:nvPr/>
        </p:nvCxnSpPr>
        <p:spPr>
          <a:xfrm>
            <a:off x="5623560" y="178308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4"/>
          <p:cNvSpPr/>
          <p:nvPr/>
        </p:nvSpPr>
        <p:spPr>
          <a:xfrm>
            <a:off x="5925312" y="16459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760720" y="1097280"/>
            <a:ext cx="1691640" cy="1371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760720" y="114300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+ LPA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760720" y="1572768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Gaussian kernel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Label Propagation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7452360" y="178308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4"/>
          <p:cNvSpPr/>
          <p:nvPr/>
        </p:nvSpPr>
        <p:spPr>
          <a:xfrm>
            <a:off x="7754112" y="16459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589520" y="1097280"/>
            <a:ext cx="1691640" cy="13716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589520" y="114300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+ GLoss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589520" y="1572768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λ_CE·L_CE + λ_G·L_GLOSS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(0.2 / 0.8)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246120" y="2834640"/>
            <a:ext cx="2651760" cy="10972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246120" y="28346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Learner (ctx)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246120" y="326440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[V]₁[V]₂…[V]₁₆[CLASS]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16 learnable tokens  (ONLY params updated)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4"/>
          <p:cNvCxnSpPr/>
          <p:nvPr/>
        </p:nvCxnSpPr>
        <p:spPr>
          <a:xfrm>
            <a:off x="4773168" y="246888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4"/>
          <p:cNvSpPr/>
          <p:nvPr/>
        </p:nvSpPr>
        <p:spPr>
          <a:xfrm>
            <a:off x="4681728" y="2331720"/>
            <a:ext cx="182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990095" y="2505462"/>
            <a:ext cx="169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f_prompt = mean(ctx)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FEF3C7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65760" y="4187952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Key Insight: Graph nodes use LEARNED PROMPT VECTORS (not class labels) → no label leakage in semi-supervised graph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CE + GLoss Hybrid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𝓛  =  λ_CE · 𝓛_CE  +  λ_G · 𝓛_GLOSS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157276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λ_CE = 0.2     λ_G = 0.8     (optimal empirically on Caltech-101)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57200" y="2331720"/>
            <a:ext cx="2651760" cy="2468880"/>
          </a:xfrm>
          <a:prstGeom prst="rect">
            <a:avLst/>
          </a:prstGeom>
          <a:solidFill>
            <a:srgbClr val="F4F7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508760" y="2377440"/>
            <a:ext cx="548640" cy="548640"/>
          </a:xfrm>
          <a:prstGeom prst="ellipse">
            <a:avLst/>
          </a:prstGeom>
          <a:solidFill>
            <a:srgbClr val="2C4A9C"/>
          </a:solidFill>
          <a:ln cap="flat" cmpd="sng" w="12700">
            <a:solidFill>
              <a:srgbClr val="2C4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08760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299923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A9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4A9C"/>
                </a:solidFill>
                <a:latin typeface="Calibri"/>
                <a:ea typeface="Calibri"/>
                <a:cs typeface="Calibri"/>
                <a:sym typeface="Calibri"/>
              </a:rPr>
              <a:t>Split Batch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94360" y="3401568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γ = 0.9 of batch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labeled nodes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(10% unlabeled)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040385" y="3337560"/>
            <a:ext cx="24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355848" y="2331720"/>
            <a:ext cx="2651760" cy="2468880"/>
          </a:xfrm>
          <a:prstGeom prst="rect">
            <a:avLst/>
          </a:prstGeom>
          <a:solidFill>
            <a:srgbClr val="F4F7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407408" y="2377440"/>
            <a:ext cx="548640" cy="54864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407408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355848" y="299923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Build Graph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493008" y="3401568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W_ij = exp(−||z_i−z_j||² / 2σ²)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σ = dataset-specific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Symmetric norm: D^{-½} W D^{-½}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920245" y="3337560"/>
            <a:ext cx="24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254496" y="2331720"/>
            <a:ext cx="2651760" cy="2468880"/>
          </a:xfrm>
          <a:prstGeom prst="rect">
            <a:avLst/>
          </a:prstGeom>
          <a:solidFill>
            <a:srgbClr val="F4F7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306056" y="2377440"/>
            <a:ext cx="548640" cy="5486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306056" y="2377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254496" y="299923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Label Propagation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391656" y="3401568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Ŷ_u = (I − T_uu)⁻¹ T_ul Y_l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 loss on propagated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predictions for unlabeled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Few-Shot Classification Results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6"/>
          <p:cNvGraphicFramePr/>
          <p:nvPr/>
        </p:nvGraphicFramePr>
        <p:xfrm>
          <a:off x="457200" y="841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{F81FB124-B5D9-4292-9718-523FF3FFA56B}</a:tableStyleId>
              </a:tblPr>
              <a:tblGrid>
                <a:gridCol w="1920250"/>
                <a:gridCol w="1371600"/>
                <a:gridCol w="1920250"/>
                <a:gridCol w="1371600"/>
                <a:gridCol w="19202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Dataset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4-shot CE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4-shot CE+GLOSS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16-shot CE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16-shot CE+GLOSS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Caltech101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89.3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A34A"/>
                          </a:solidFill>
                        </a:rPr>
                        <a:t>91.0 ▲+1.7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91.8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A34A"/>
                          </a:solidFill>
                        </a:rPr>
                        <a:t>92.1 ▲+0.3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DTD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51.9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A34A"/>
                          </a:solidFill>
                        </a:rPr>
                        <a:t>53.7 ▲+1.8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63.3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A34A"/>
                          </a:solidFill>
                        </a:rPr>
                        <a:t>63.6 ▲+0.3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FGVC Aircraft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23.0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C2626"/>
                          </a:solidFill>
                        </a:rPr>
                        <a:t>20.9 ▼−2.1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33.4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64748B"/>
                          </a:solidFill>
                        </a:rPr>
                        <a:t>—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Oxford Flowers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85.1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C2626"/>
                          </a:solidFill>
                        </a:rPr>
                        <a:t>84.1 ▼−1.0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94.5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C2626"/>
                          </a:solidFill>
                        </a:rPr>
                        <a:t>93.5 ▼−1.0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Oxford Pets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88.5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A34A"/>
                          </a:solidFill>
                        </a:rPr>
                        <a:t>88.9 ▲+0.4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87.9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A34A"/>
                          </a:solidFill>
                        </a:rPr>
                        <a:t>89.9 ▲+2.0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UCF101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68.6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DC2626"/>
                          </a:solidFill>
                        </a:rPr>
                        <a:t>68.1 ▼−0.5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</a:rPr>
                        <a:t>77.3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A34A"/>
                          </a:solidFill>
                        </a:rPr>
                        <a:t>78.0 ▲+0.7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6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DCFCE7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4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/6 datasets improve at 4-shot  ·  4/6 datasets improve at 16-shot  ·  Best gain: +2.0% (Oxford Pets 16-shot)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Ablation: CE / GLoss Weighting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68680"/>
            <a:ext cx="841248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DCFCE7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0.2 / 0.8 is consistently optimal  —  too much GLoss (0.1 CE) weakens discrimination; too much CE (0.3) loses graph structure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Prompt Representation Analysis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841248"/>
            <a:ext cx="50292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/>
          <p:nvPr/>
        </p:nvSpPr>
        <p:spPr>
          <a:xfrm>
            <a:off x="5577840" y="914400"/>
            <a:ext cx="3291840" cy="987552"/>
          </a:xfrm>
          <a:prstGeom prst="rect">
            <a:avLst/>
          </a:prstGeom>
          <a:solidFill>
            <a:srgbClr val="F4F7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5577840" y="914400"/>
            <a:ext cx="109728" cy="98755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5742432" y="96926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Similarity range: 0.46–0.62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742432" y="1316736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CE+GLOSS converges to a genuinely different optimum — not just a small perturbation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577840" y="2029968"/>
            <a:ext cx="3291840" cy="987552"/>
          </a:xfrm>
          <a:prstGeom prst="rect">
            <a:avLst/>
          </a:prstGeom>
          <a:solidFill>
            <a:srgbClr val="F4F7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5577840" y="2029968"/>
            <a:ext cx="109728" cy="987552"/>
          </a:xfrm>
          <a:prstGeom prst="rect">
            <a:avLst/>
          </a:prstGeom>
          <a:solidFill>
            <a:srgbClr val="2C4A9C"/>
          </a:solidFill>
          <a:ln cap="flat" cmpd="sng" w="12700">
            <a:solidFill>
              <a:srgbClr val="2C4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5742432" y="208483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FGVC lowest (0.46)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742432" y="2432304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Strongest graph influence on fine-grained tasks — prompts diverge most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577840" y="3145536"/>
            <a:ext cx="3291840" cy="987552"/>
          </a:xfrm>
          <a:prstGeom prst="rect">
            <a:avLst/>
          </a:prstGeom>
          <a:solidFill>
            <a:srgbClr val="F4F7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5577840" y="3145536"/>
            <a:ext cx="109728" cy="9875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5742432" y="320040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Oxford Pets highest (0.62)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742432" y="3547872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Well-separated classes → both methods converge to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working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4498848"/>
            <a:ext cx="8229600" cy="438912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57200" y="449884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Graph-guided optimization does not merely regularize — it encourages alternative prompt representations at different local optima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When Does Graph Guidance Help?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365760" y="896112"/>
            <a:ext cx="3931920" cy="3931920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365760" y="896112"/>
            <a:ext cx="3931920" cy="5029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365760" y="896112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Graph Guidance HELPS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02920" y="1508760"/>
            <a:ext cx="36118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594360" y="153619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Caltech101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94360" y="18745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Well-separated semantic 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graph reinforces 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2920" y="2560320"/>
            <a:ext cx="36118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94360" y="258775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Oxford Pets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94360" y="29260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Distinct breed categories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+2.0% at 16-shot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02920" y="3611880"/>
            <a:ext cx="36118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594360" y="363931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DTD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94360" y="39776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Texture clusters benefit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from graph smoothing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4846320" y="896112"/>
            <a:ext cx="3931920" cy="3931920"/>
          </a:xfrm>
          <a:prstGeom prst="rect">
            <a:avLst/>
          </a:prstGeom>
          <a:solidFill>
            <a:srgbClr val="FFF1F2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4846320" y="896112"/>
            <a:ext cx="3931920" cy="5029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4846320" y="896112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Graph Guidance HURTS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983480" y="1508760"/>
            <a:ext cx="36118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074920" y="153619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FGVC Aircraft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074920" y="18745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Fine-grained categories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over-smoothing blurs boundaries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983480" y="2560320"/>
            <a:ext cx="36118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074920" y="25877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Oxford Flowers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074920" y="29260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visual similarity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 16-shot → coupled neighbors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